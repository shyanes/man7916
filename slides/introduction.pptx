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69" r:id="rId27"/>
    <p:sldId id="286" r:id="rId28"/>
    <p:sldId id="284" r:id="rId29"/>
    <p:sldId id="270" r:id="rId30"/>
    <p:sldId id="271" r:id="rId31"/>
    <p:sldId id="285" r:id="rId32"/>
    <p:sldId id="288" r:id="rId33"/>
    <p:sldId id="290" r:id="rId34"/>
    <p:sldId id="289" r:id="rId35"/>
    <p:sldId id="291" r:id="rId36"/>
    <p:sldId id="292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3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BBA-4DBE-BD26-5F927A0396D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BBA-4DBE-BD26-5F927A0396D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6BBA-4DBE-BD26-5F927A0396DD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6BBA-4DBE-BD26-5F927A0396D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Research Paper</c:v>
                </c:pt>
                <c:pt idx="1">
                  <c:v>Participation/Discussion Leadership</c:v>
                </c:pt>
                <c:pt idx="2">
                  <c:v>Weekly Assignments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</c:v>
                </c:pt>
                <c:pt idx="1">
                  <c:v>0.2</c:v>
                </c:pt>
                <c:pt idx="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BBA-4DBE-BD26-5F927A0396DD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25C87-2174-5E82-5199-972A89178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B15BA-F819-3483-2CC7-01039FA7B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C8453-9912-49FA-C7C5-B4596C3E9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DB7FF-8AA3-4EEE-B8BE-922E9BD75BD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6E957-07D1-CCB9-1886-0C1CEADFC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231E1-59FC-D606-4C32-3C249A4D3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9916-7C35-4190-AEFE-0EFA4EC03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164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3DF38-B49D-6651-2E25-AB10CF097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10708-F76A-E88D-31CE-C24F87E0B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2AF62-E03D-7A6C-7773-A0AC690B8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DB7FF-8AA3-4EEE-B8BE-922E9BD75BD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CC460-A6BE-179A-9CDB-FAD43F4D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40B13-6344-F2EF-7083-58A990149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9916-7C35-4190-AEFE-0EFA4EC03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085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4643E-B43B-7141-E726-BA4D9A7AB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BF874E-DC55-25A4-C417-80581134FC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A8B8B-F44E-FC6F-825B-86F7DFFA7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DB7FF-8AA3-4EEE-B8BE-922E9BD75BD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C30CC-57FB-263A-01DE-D1906598E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9EA19-0B3D-688D-7368-3E3A55B32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9916-7C35-4190-AEFE-0EFA4EC03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8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91E4-E8B2-BC6E-8713-1D7106514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27EBB-2567-29B5-84C8-AD188EC256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9DD71-FA67-A4AE-2FBE-C3434BEEF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195E9-5EAD-03E5-6E4B-2FBCBA7C3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DB7FF-8AA3-4EEE-B8BE-922E9BD75BD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BD065-9984-8F7F-A4E7-83887DFFD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A13F2-4852-AD67-5865-FF5847FCB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9916-7C35-4190-AEFE-0EFA4EC03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3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12B33-DFFA-4F4D-7D49-2BDAEDB22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210CE-19F4-16F4-AE2C-027631425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25975-0337-1FC2-01AD-671F95F9C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6C645E-5ACC-8E1B-32BA-EF32C4F1AF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3FF43-7319-9E4F-4EB2-07D7E98B6E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ADF974-7179-39A9-C1CD-5589FE038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DB7FF-8AA3-4EEE-B8BE-922E9BD75BD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AE1770-61E6-F8CC-492F-84066DAA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B0FEA1-FAAB-B3E8-C24B-C5FED5957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9916-7C35-4190-AEFE-0EFA4EC03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463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61E4A-4817-1063-ECFA-CFDE142BC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6853FA-2FAA-ACDC-A7A0-C5815F57E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DB7FF-8AA3-4EEE-B8BE-922E9BD75BD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3D0A01-32D0-6D00-C650-0952075CC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ADC5F6-F2D5-9546-4FCC-1F9EA263F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9916-7C35-4190-AEFE-0EFA4EC03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305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587A40-39B5-71CE-EB61-8F9E18CC6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DB7FF-8AA3-4EEE-B8BE-922E9BD75BD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96FE3C-85F1-CB95-B980-387F92E7B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072BE-E4E4-179E-6856-A8652EA52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9916-7C35-4190-AEFE-0EFA4EC03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252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B2A5-1239-F375-C4FB-FAF1015E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22FF0-4890-8E28-4393-45B30452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DEB7EE-C971-F6CA-1560-17AEDD4FE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01F24-EB6C-6FD8-C597-BE07AF3CC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DB7FF-8AA3-4EEE-B8BE-922E9BD75BD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42B054-E272-2795-259C-9ED55F2A8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68DE1-1916-5C48-F730-76E5483DA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9916-7C35-4190-AEFE-0EFA4EC03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537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6506B-0798-7126-FF30-2FCD40E1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EC6E79-A0FB-D08A-29EF-1F34B33D820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F4DB4-59D1-6A41-01FD-DE4DEB660E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BAD2F-B8CC-808E-50E4-E3AAC44EA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DB7FF-8AA3-4EEE-B8BE-922E9BD75BD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EE270-134F-E04D-30B8-A5FE8583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F9FF3-CA68-78D2-BCFF-2C2A6D1DB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9916-7C35-4190-AEFE-0EFA4EC03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919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FF9F1-D048-EDAE-CD0F-30B099F0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3D2D63-DDBF-A8C5-7A96-94850F48C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743B7-E13B-347E-B70A-E6D737B52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DB7FF-8AA3-4EEE-B8BE-922E9BD75BD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D0387-DDDA-F6E8-674F-AA7E68F70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C667F-BF40-F507-9711-730940300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9916-7C35-4190-AEFE-0EFA4EC03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81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5D9440-CF66-8348-1914-365EBFDCAA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0F5FAF-FD90-1431-8907-F8A7F44111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F7A5D-2E99-320C-DBC2-00018D2E6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DB7FF-8AA3-4EEE-B8BE-922E9BD75BD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DB965-B110-1349-FB92-F18A372D8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C5E2E-B193-1855-7C58-8E4391F61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9916-7C35-4190-AEFE-0EFA4EC03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941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B99F7A-2AE6-0883-1CF7-592CF9D5D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F3DAB-8507-2170-CA12-A6BA281A1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AE042-5968-B951-7930-28803B1794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5DB7FF-8AA3-4EEE-B8BE-922E9BD75BDB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1BCE3-3A5C-4CA1-AD09-ABA78E12C3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8FF0A-EB2D-5622-13D0-AD48395C3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D29916-7C35-4190-AEFE-0EFA4EC03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401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anfordnlp/stanza" TargetMode="External"/><Relationship Id="rId2" Type="http://schemas.openxmlformats.org/officeDocument/2006/relationships/hyperlink" Target="https://www.github.com/amckenny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arsena-k/Word2Vec-bias-extraction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rry.uga.edu/contentanalysis/" TargetMode="External"/><Relationship Id="rId2" Type="http://schemas.openxmlformats.org/officeDocument/2006/relationships/hyperlink" Target="https://colab.research.google.com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citl.indiana.edu/teaching-resources/documenting-teaching/teaching-statements-philosophies/index.html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68073-C57A-ABDE-0E87-1F43A27AB4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MAN 7916</a:t>
            </a:r>
            <a:br>
              <a:rPr lang="en-US" dirty="0"/>
            </a:br>
            <a:r>
              <a:rPr lang="en-US" dirty="0"/>
              <a:t>Session 1: Introduction to Content Analysis and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551EA8-6538-9BB2-D7CF-22B206BD2A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Aaron McKenny</a:t>
            </a:r>
          </a:p>
          <a:p>
            <a:r>
              <a:rPr lang="en-US" dirty="0"/>
              <a:t>10/13/2026</a:t>
            </a:r>
          </a:p>
        </p:txBody>
      </p:sp>
    </p:spTree>
    <p:extLst>
      <p:ext uri="{BB962C8B-B14F-4D97-AF65-F5344CB8AC3E}">
        <p14:creationId xmlns:p14="http://schemas.microsoft.com/office/powerpoint/2010/main" val="686544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5F330-BBED-ECB9-C7F0-64EE2A37E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D91B6-B2F1-598C-7EA5-70926DC8D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About this course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This week’s readings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Resources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Homework discussion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job application process</a:t>
            </a:r>
          </a:p>
        </p:txBody>
      </p:sp>
    </p:spTree>
    <p:extLst>
      <p:ext uri="{BB962C8B-B14F-4D97-AF65-F5344CB8AC3E}">
        <p14:creationId xmlns:p14="http://schemas.microsoft.com/office/powerpoint/2010/main" val="2751957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C9D74-F878-0C0C-F0FE-396D668A4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D8676-1F92-CEA4-09A4-24F883109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Content/Text Analysis Methods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Manual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Computer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Methodological rolodex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What they are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How they’re used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Key considerations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Get your feet wet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2263877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47858-10FF-32E1-3274-F87CEE6CA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grading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F4C3C788-2841-5ED0-BC52-8ED118619B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279386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24292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F749D-EC55-1642-E633-CC7AA0464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Components: Weekly 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DD110-9FE1-B19B-2721-667641A76A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40% Contribution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Individual Work*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Due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On GitHub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Before class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Not accepted late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Grades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Posted to </a:t>
            </a:r>
            <a:r>
              <a:rPr lang="en-US" dirty="0" err="1"/>
              <a:t>Webcourses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AC92802-0136-2EC7-D1DF-859754CB32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13520" y="1825625"/>
            <a:ext cx="349895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112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E80E510-F1F6-DEA5-546A-4A8FCCD53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Components: Participation and discussion leadership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397BF4-1D8C-9058-4453-BEE1E4A19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20% Contribution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How to make this course </a:t>
            </a:r>
            <a:r>
              <a:rPr lang="en-US" dirty="0">
                <a:solidFill>
                  <a:srgbClr val="FF0000"/>
                </a:solidFill>
              </a:rPr>
              <a:t>really boring</a:t>
            </a:r>
            <a:r>
              <a:rPr lang="en-US" dirty="0"/>
              <a:t>: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100% Instructor lecture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Uneven involvement/preparedness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Keep everything at a conceptual level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Participation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Assessed: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Routine, active, verbal participation in class discussion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Content of participation indicates adequate preparation and reflection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Having an “off-day” is </a:t>
            </a:r>
            <a:r>
              <a:rPr lang="en-US" dirty="0">
                <a:solidFill>
                  <a:srgbClr val="FF0000"/>
                </a:solidFill>
              </a:rPr>
              <a:t>okay on occasion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460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D2222-0E5F-CC55-0CBB-EEE5DD35C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B2698E-3271-551F-D6C5-D937FDAC0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Components: Participation and discussion leadership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8870DF-7A91-4768-2F51-018C99E13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Most classes will have a student “discussion leader”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2 times per semester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Co-leads the class </a:t>
            </a:r>
            <a:r>
              <a:rPr lang="en-US" dirty="0">
                <a:solidFill>
                  <a:srgbClr val="FF0000"/>
                </a:solidFill>
              </a:rPr>
              <a:t>with 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Co-lead discussion of method/readings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Prepare </a:t>
            </a:r>
            <a:r>
              <a:rPr lang="en-US" dirty="0">
                <a:solidFill>
                  <a:srgbClr val="FF0000"/>
                </a:solidFill>
              </a:rPr>
              <a:t>discussion questions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Stepped-up preparedness/participation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Let’s select weeks!</a:t>
            </a:r>
          </a:p>
        </p:txBody>
      </p:sp>
    </p:spTree>
    <p:extLst>
      <p:ext uri="{BB962C8B-B14F-4D97-AF65-F5344CB8AC3E}">
        <p14:creationId xmlns:p14="http://schemas.microsoft.com/office/powerpoint/2010/main" val="2944637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44585-A58A-61CA-1B7F-5D006FEF3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EBE4D-B85C-76B1-8521-2F3BA9EB5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Introduction (10/13) – Aaron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Corpus Collection (10/20**) – Aaron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Manual Content Analysis (10/27) - __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Intro to CATA - __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Unsupervised ML - __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Supervised ML - __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(Large) Language Models - __</a:t>
            </a:r>
          </a:p>
        </p:txBody>
      </p:sp>
    </p:spTree>
    <p:extLst>
      <p:ext uri="{BB962C8B-B14F-4D97-AF65-F5344CB8AC3E}">
        <p14:creationId xmlns:p14="http://schemas.microsoft.com/office/powerpoint/2010/main" val="1959566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43391-79E9-00E9-82BB-019A0BF7F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Components: Research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849C1-7B43-9634-8213-E5D4D7ADB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Research Paper </a:t>
            </a:r>
            <a:r>
              <a:rPr lang="en-US" dirty="0">
                <a:solidFill>
                  <a:srgbClr val="FF0000"/>
                </a:solidFill>
              </a:rPr>
              <a:t>Excerpt</a:t>
            </a:r>
          </a:p>
          <a:p>
            <a:pPr lvl="1"/>
            <a:r>
              <a:rPr lang="en-US" dirty="0"/>
              <a:t>Hypotheses/Research Questions</a:t>
            </a:r>
          </a:p>
          <a:p>
            <a:pPr lvl="1"/>
            <a:r>
              <a:rPr lang="en-US" dirty="0"/>
              <a:t>Extended Methods Section</a:t>
            </a:r>
          </a:p>
          <a:p>
            <a:pPr lvl="1"/>
            <a:r>
              <a:rPr lang="en-US" dirty="0"/>
              <a:t>Extended </a:t>
            </a:r>
            <a:r>
              <a:rPr lang="en-US" dirty="0" err="1"/>
              <a:t>Analysis+Results</a:t>
            </a:r>
            <a:r>
              <a:rPr lang="en-US" dirty="0"/>
              <a:t> Section</a:t>
            </a:r>
          </a:p>
          <a:p>
            <a:pPr>
              <a:spcAft>
                <a:spcPts val="0"/>
              </a:spcAft>
            </a:pPr>
            <a:r>
              <a:rPr lang="en-US" dirty="0"/>
              <a:t>Guidelines:</a:t>
            </a:r>
          </a:p>
          <a:p>
            <a:pPr lvl="1">
              <a:spcAft>
                <a:spcPts val="0"/>
              </a:spcAft>
            </a:pPr>
            <a:r>
              <a:rPr lang="en-US" b="1" dirty="0"/>
              <a:t>Must </a:t>
            </a:r>
            <a:r>
              <a:rPr lang="en-US" dirty="0"/>
              <a:t>work with a faculty coauthor</a:t>
            </a:r>
          </a:p>
          <a:p>
            <a:pPr lvl="1">
              <a:spcAft>
                <a:spcPts val="0"/>
              </a:spcAft>
            </a:pPr>
            <a:r>
              <a:rPr lang="en-US" dirty="0"/>
              <a:t>May work with other students</a:t>
            </a:r>
          </a:p>
          <a:p>
            <a:pPr lvl="1">
              <a:spcAft>
                <a:spcPts val="0"/>
              </a:spcAft>
            </a:pPr>
            <a:r>
              <a:rPr lang="en-US" dirty="0"/>
              <a:t>May double-count existing papers/papers from other courses</a:t>
            </a:r>
          </a:p>
          <a:p>
            <a:pPr lvl="1">
              <a:spcAft>
                <a:spcPts val="0"/>
              </a:spcAft>
            </a:pPr>
            <a:r>
              <a:rPr lang="en-US" dirty="0"/>
              <a:t>May use someone else’s texts</a:t>
            </a:r>
          </a:p>
          <a:p>
            <a:pPr lvl="1">
              <a:spcAft>
                <a:spcPts val="0"/>
              </a:spcAft>
            </a:pPr>
            <a:r>
              <a:rPr lang="en-US" dirty="0"/>
              <a:t>‘Methods’ papers are inappropriate for this course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310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22198-F0CE-F572-8A85-D9C22A7D3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C06D4-C7CE-0BFF-337D-A3B428A67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Preparing for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D0943-E5B4-A958-8A94-D26EC40E8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Weekly readings</a:t>
            </a:r>
          </a:p>
          <a:p>
            <a:pPr lvl="1"/>
            <a:r>
              <a:rPr lang="en-US" dirty="0"/>
              <a:t>Required readings</a:t>
            </a:r>
          </a:p>
          <a:p>
            <a:pPr lvl="1"/>
            <a:r>
              <a:rPr lang="en-US" dirty="0"/>
              <a:t>Choose your own adventure</a:t>
            </a:r>
          </a:p>
          <a:p>
            <a:endParaRPr lang="en-US" dirty="0"/>
          </a:p>
          <a:p>
            <a:r>
              <a:rPr lang="en-US" dirty="0"/>
              <a:t>Assignments</a:t>
            </a:r>
          </a:p>
          <a:p>
            <a:pPr lvl="1"/>
            <a:r>
              <a:rPr lang="en-US" dirty="0"/>
              <a:t>We will go through in class</a:t>
            </a:r>
          </a:p>
          <a:p>
            <a:endParaRPr lang="en-US" dirty="0"/>
          </a:p>
          <a:p>
            <a:r>
              <a:rPr lang="en-US" dirty="0"/>
              <a:t>Ideally, bring your laptop</a:t>
            </a:r>
          </a:p>
          <a:p>
            <a:pPr lvl="1"/>
            <a:r>
              <a:rPr lang="en-US" dirty="0"/>
              <a:t>Avoid over-reliance during discussion</a:t>
            </a:r>
          </a:p>
        </p:txBody>
      </p:sp>
    </p:spTree>
    <p:extLst>
      <p:ext uri="{BB962C8B-B14F-4D97-AF65-F5344CB8AC3E}">
        <p14:creationId xmlns:p14="http://schemas.microsoft.com/office/powerpoint/2010/main" val="2616434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D4F4D-F96F-BED6-D239-AD65B314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Technology</a:t>
            </a:r>
            <a:endParaRPr lang="en-US" dirty="0"/>
          </a:p>
        </p:txBody>
      </p:sp>
      <p:pic>
        <p:nvPicPr>
          <p:cNvPr id="5" name="Picture 6" descr="Why Is The Python Programming Language So Popular?">
            <a:extLst>
              <a:ext uri="{FF2B5EF4-FFF2-40B4-BE49-F238E27FC236}">
                <a16:creationId xmlns:a16="http://schemas.microsoft.com/office/drawing/2014/main" id="{74F808EC-3C64-A785-142E-222BF2C5F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589" y="2706511"/>
            <a:ext cx="3304822" cy="3304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GitHub Desktop App for macOS | Applivery">
            <a:extLst>
              <a:ext uri="{FF2B5EF4-FFF2-40B4-BE49-F238E27FC236}">
                <a16:creationId xmlns:a16="http://schemas.microsoft.com/office/drawing/2014/main" id="{2611F7CF-AE40-E100-DE92-A0B3BDB6D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9031" y="2775656"/>
            <a:ext cx="3166533" cy="316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10ED8271-DE40-F27C-F7AB-7BCC217D3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2134" y="3258256"/>
            <a:ext cx="2201333" cy="2201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212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B6D35-724D-A193-BDB5-23E589EB7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AI </a:t>
            </a:r>
            <a:r>
              <a:rPr lang="en-US" sz="2800" dirty="0"/>
              <a:t>(e.g., Claude, GPT, Gemini)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A47EC-FBD5-8F1F-4FE2-9CC7F64247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Outside of class: OK w/ disclosure</a:t>
            </a:r>
          </a:p>
          <a:p>
            <a:pPr lvl="1"/>
            <a:r>
              <a:rPr lang="en-US" dirty="0"/>
              <a:t>As a content analysis tool</a:t>
            </a:r>
          </a:p>
          <a:p>
            <a:pPr lvl="1"/>
            <a:r>
              <a:rPr lang="en-US" dirty="0"/>
              <a:t>Sanity checking your work</a:t>
            </a:r>
          </a:p>
          <a:p>
            <a:pPr lvl="1"/>
            <a:r>
              <a:rPr lang="en-US" dirty="0"/>
              <a:t>Writing improvement</a:t>
            </a:r>
          </a:p>
          <a:p>
            <a:pPr lvl="1"/>
            <a:r>
              <a:rPr lang="en-US" dirty="0"/>
              <a:t>Coding assistance*</a:t>
            </a:r>
          </a:p>
          <a:p>
            <a:endParaRPr lang="en-US" dirty="0"/>
          </a:p>
          <a:p>
            <a:r>
              <a:rPr lang="en-US" dirty="0"/>
              <a:t>Outside of class: Not OK</a:t>
            </a:r>
          </a:p>
          <a:p>
            <a:pPr lvl="1"/>
            <a:r>
              <a:rPr lang="en-US" dirty="0"/>
              <a:t>Substitute for reading</a:t>
            </a:r>
          </a:p>
          <a:p>
            <a:pPr lvl="1"/>
            <a:r>
              <a:rPr lang="en-US" dirty="0"/>
              <a:t>Writing for you</a:t>
            </a:r>
          </a:p>
          <a:p>
            <a:pPr lvl="1"/>
            <a:r>
              <a:rPr lang="en-US" dirty="0"/>
              <a:t>Assist with analysis/interpretation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6EE788-604C-AB4C-FBA9-6785E2E6EE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 class: OK…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Code debugging on the fly during activities</a:t>
            </a:r>
          </a:p>
          <a:p>
            <a:pPr lvl="1"/>
            <a:r>
              <a:rPr lang="en-US" dirty="0"/>
              <a:t>With permission</a:t>
            </a:r>
          </a:p>
          <a:p>
            <a:pPr lvl="1"/>
            <a:endParaRPr lang="en-US" dirty="0"/>
          </a:p>
          <a:p>
            <a:r>
              <a:rPr lang="en-US" dirty="0"/>
              <a:t>In class: Not OK…</a:t>
            </a:r>
          </a:p>
          <a:p>
            <a:pPr lvl="1"/>
            <a:r>
              <a:rPr lang="en-US" dirty="0"/>
              <a:t>Everything else</a:t>
            </a:r>
          </a:p>
        </p:txBody>
      </p:sp>
    </p:spTree>
    <p:extLst>
      <p:ext uri="{BB962C8B-B14F-4D97-AF65-F5344CB8AC3E}">
        <p14:creationId xmlns:p14="http://schemas.microsoft.com/office/powerpoint/2010/main" val="1844348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C7564-5EE8-7587-81A1-B27DEA882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7547E-79F0-2EDC-16B6-BC9689DF5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D2555-A641-7BAB-AA6F-B80C85CC3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About this course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This week’s readings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Resources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Homework discussion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job application process</a:t>
            </a:r>
          </a:p>
        </p:txBody>
      </p:sp>
    </p:spTree>
    <p:extLst>
      <p:ext uri="{BB962C8B-B14F-4D97-AF65-F5344CB8AC3E}">
        <p14:creationId xmlns:p14="http://schemas.microsoft.com/office/powerpoint/2010/main" val="1589796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783A5B4-EF87-6854-63F4-EBFC3743C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Neuendorf Chapters 1 &amp; 2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67FBB73-4D54-918A-30C0-5F2B651DC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015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6E59E-CE73-D2A9-23B1-A6019B908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4DE11-D6D0-E072-32B0-60F758B2D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content analysis?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8F648-910F-83AA-4FDE-0FD82DF17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dirty="0"/>
              <a:t>“…a research technique for the </a:t>
            </a:r>
            <a:r>
              <a:rPr lang="en-US" b="1" dirty="0">
                <a:solidFill>
                  <a:schemeClr val="accent4"/>
                </a:solidFill>
              </a:rPr>
              <a:t>objective, systematic, and quantitative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description of the </a:t>
            </a:r>
            <a:r>
              <a:rPr lang="en-US" b="1" dirty="0">
                <a:solidFill>
                  <a:schemeClr val="accent4"/>
                </a:solidFill>
              </a:rPr>
              <a:t>manifest content of communication</a:t>
            </a:r>
            <a:r>
              <a:rPr lang="en-US" dirty="0"/>
              <a:t>” (</a:t>
            </a:r>
            <a:r>
              <a:rPr lang="en-US" dirty="0" err="1"/>
              <a:t>Berelson</a:t>
            </a:r>
            <a:r>
              <a:rPr lang="en-US" dirty="0"/>
              <a:t>, 1952)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dirty="0"/>
              <a:t>“…any research technique for </a:t>
            </a:r>
            <a:r>
              <a:rPr lang="en-US" b="1" dirty="0">
                <a:solidFill>
                  <a:schemeClr val="accent4"/>
                </a:solidFill>
              </a:rPr>
              <a:t>making inferences </a:t>
            </a:r>
            <a:r>
              <a:rPr lang="en-US" dirty="0"/>
              <a:t>by </a:t>
            </a:r>
            <a:r>
              <a:rPr lang="en-US" b="1" dirty="0">
                <a:solidFill>
                  <a:schemeClr val="accent4"/>
                </a:solidFill>
              </a:rPr>
              <a:t>systematically and objectively </a:t>
            </a:r>
            <a:r>
              <a:rPr lang="en-US" dirty="0"/>
              <a:t>identifying specified </a:t>
            </a:r>
            <a:r>
              <a:rPr lang="en-US" b="1" dirty="0">
                <a:solidFill>
                  <a:schemeClr val="accent4"/>
                </a:solidFill>
              </a:rPr>
              <a:t>characteristics within text</a:t>
            </a:r>
            <a:r>
              <a:rPr lang="en-US" dirty="0"/>
              <a:t>” (Stone et al., 1966)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dirty="0"/>
              <a:t>“…a research </a:t>
            </a:r>
            <a:r>
              <a:rPr lang="en-US" b="1" dirty="0">
                <a:solidFill>
                  <a:schemeClr val="accent4"/>
                </a:solidFill>
              </a:rPr>
              <a:t>technique for making replicable and valid inferences from texts </a:t>
            </a:r>
            <a:r>
              <a:rPr lang="en-US" dirty="0"/>
              <a:t>[broadly conceived]  to the contexts of their use.” (</a:t>
            </a:r>
            <a:r>
              <a:rPr lang="en-US" dirty="0" err="1"/>
              <a:t>Krippendorff</a:t>
            </a:r>
            <a:r>
              <a:rPr lang="en-US" dirty="0"/>
              <a:t>, 2004)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dirty="0"/>
              <a:t>“…a research method that uses a </a:t>
            </a:r>
            <a:r>
              <a:rPr lang="en-US" b="1" dirty="0">
                <a:solidFill>
                  <a:schemeClr val="accent4"/>
                </a:solidFill>
              </a:rPr>
              <a:t>set of procedures </a:t>
            </a:r>
            <a:r>
              <a:rPr lang="en-US" dirty="0"/>
              <a:t>to make </a:t>
            </a:r>
            <a:r>
              <a:rPr lang="en-US" b="1" dirty="0">
                <a:solidFill>
                  <a:schemeClr val="accent4"/>
                </a:solidFill>
              </a:rPr>
              <a:t>valid inferences from text</a:t>
            </a:r>
            <a:r>
              <a:rPr lang="en-US" dirty="0"/>
              <a:t>” (Weber, 1990)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dirty="0"/>
              <a:t>“…the </a:t>
            </a:r>
            <a:r>
              <a:rPr lang="en-US" b="1" dirty="0">
                <a:solidFill>
                  <a:schemeClr val="accent4"/>
                </a:solidFill>
              </a:rPr>
              <a:t>systematic, objective, quantitative </a:t>
            </a:r>
            <a:r>
              <a:rPr lang="en-US" dirty="0"/>
              <a:t>analysis of </a:t>
            </a:r>
            <a:r>
              <a:rPr lang="en-US" b="1" dirty="0">
                <a:solidFill>
                  <a:schemeClr val="accent4"/>
                </a:solidFill>
              </a:rPr>
              <a:t>message characteristics</a:t>
            </a:r>
            <a:r>
              <a:rPr lang="en-US" dirty="0"/>
              <a:t>.” (Neuendorf, 2016)</a:t>
            </a:r>
          </a:p>
        </p:txBody>
      </p:sp>
    </p:spTree>
    <p:extLst>
      <p:ext uri="{BB962C8B-B14F-4D97-AF65-F5344CB8AC3E}">
        <p14:creationId xmlns:p14="http://schemas.microsoft.com/office/powerpoint/2010/main" val="3706890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A9BC-4D54-559F-CF07-B1E53E27E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threads?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E0757-4540-9ED0-63AD-AF4A96C14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Systematic</a:t>
            </a:r>
            <a:endParaRPr lang="en-US" i="1" dirty="0"/>
          </a:p>
          <a:p>
            <a:pPr lvl="1"/>
            <a:r>
              <a:rPr lang="en-US" dirty="0"/>
              <a:t>Not </a:t>
            </a:r>
            <a:r>
              <a:rPr lang="en-US" i="1" dirty="0"/>
              <a:t>ad hoc</a:t>
            </a:r>
            <a:r>
              <a:rPr lang="en-US" dirty="0"/>
              <a:t>/purely subjective</a:t>
            </a:r>
          </a:p>
          <a:p>
            <a:pPr lvl="1"/>
            <a:r>
              <a:rPr lang="en-US" dirty="0"/>
              <a:t>Same reliability and validity concerns as other techniques</a:t>
            </a:r>
          </a:p>
          <a:p>
            <a:endParaRPr lang="en-US" dirty="0"/>
          </a:p>
          <a:p>
            <a:r>
              <a:rPr lang="en-US" dirty="0"/>
              <a:t>Based in text </a:t>
            </a:r>
            <a:r>
              <a:rPr lang="en-US" sz="1800" i="1" dirty="0"/>
              <a:t>(though text here is broader than just the written word)</a:t>
            </a:r>
            <a:endParaRPr lang="en-US" i="1" dirty="0"/>
          </a:p>
          <a:p>
            <a:pPr lvl="1"/>
            <a:r>
              <a:rPr lang="en-US" dirty="0"/>
              <a:t>Organizational communication generates our data</a:t>
            </a:r>
          </a:p>
          <a:p>
            <a:pPr lvl="1"/>
            <a:r>
              <a:rPr lang="en-US" dirty="0"/>
              <a:t>Context (medium, communicator, recipient, intent) matters</a:t>
            </a:r>
          </a:p>
          <a:p>
            <a:endParaRPr lang="en-US" dirty="0"/>
          </a:p>
          <a:p>
            <a:r>
              <a:rPr lang="en-US" dirty="0"/>
              <a:t>Role of Inference</a:t>
            </a:r>
          </a:p>
          <a:p>
            <a:pPr lvl="1"/>
            <a:r>
              <a:rPr lang="en-US" dirty="0"/>
              <a:t>Often using text to infer something about reality</a:t>
            </a:r>
          </a:p>
        </p:txBody>
      </p:sp>
    </p:spTree>
    <p:extLst>
      <p:ext uri="{BB962C8B-B14F-4D97-AF65-F5344CB8AC3E}">
        <p14:creationId xmlns:p14="http://schemas.microsoft.com/office/powerpoint/2010/main" val="363599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7E88C-FE77-C21E-6BBB-6F0995454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everyone agrees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1C3D7-7228-A3C0-54DF-2E40EB3B0D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Qualitative vs Quantitative… both?</a:t>
            </a:r>
          </a:p>
          <a:p>
            <a:endParaRPr lang="en-US" sz="2400" dirty="0"/>
          </a:p>
          <a:p>
            <a:r>
              <a:rPr lang="en-US" sz="2400" dirty="0"/>
              <a:t>Inductive vs Deductive… both?</a:t>
            </a:r>
          </a:p>
          <a:p>
            <a:endParaRPr lang="en-US" sz="2400" dirty="0"/>
          </a:p>
          <a:p>
            <a:r>
              <a:rPr lang="en-US" sz="2400" dirty="0"/>
              <a:t>Manifest vs Latent content.. Both?</a:t>
            </a:r>
          </a:p>
          <a:p>
            <a:endParaRPr lang="en-US" sz="2400" dirty="0"/>
          </a:p>
          <a:p>
            <a:r>
              <a:rPr lang="en-US" sz="2400" dirty="0"/>
              <a:t>What do the readings suggest?</a:t>
            </a:r>
          </a:p>
          <a:p>
            <a:pPr lvl="1"/>
            <a:r>
              <a:rPr lang="en-US" dirty="0"/>
              <a:t>What do you think?</a:t>
            </a:r>
          </a:p>
          <a:p>
            <a:endParaRPr lang="en-US" dirty="0"/>
          </a:p>
        </p:txBody>
      </p:sp>
      <p:pic>
        <p:nvPicPr>
          <p:cNvPr id="7" name="Picture 2" descr="Debate Team Argues Merits of Electoral College | CSUF News">
            <a:extLst>
              <a:ext uri="{FF2B5EF4-FFF2-40B4-BE49-F238E27FC236}">
                <a16:creationId xmlns:a16="http://schemas.microsoft.com/office/drawing/2014/main" id="{DEA88497-6E0E-D3CA-5379-4D2EFCD8188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42" r="18790" b="1"/>
          <a:stretch/>
        </p:blipFill>
        <p:spPr bwMode="auto">
          <a:xfrm>
            <a:off x="6669899" y="1825625"/>
            <a:ext cx="418620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1373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EB5B-EE13-19FD-9212-54FB899E9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</a:t>
            </a:r>
            <a:r>
              <a:rPr lang="en-US" dirty="0">
                <a:solidFill>
                  <a:schemeClr val="accent4"/>
                </a:solidFill>
              </a:rPr>
              <a:t>content</a:t>
            </a:r>
            <a:r>
              <a:rPr lang="en-US" dirty="0"/>
              <a:t> is being analyzed and </a:t>
            </a:r>
            <a:r>
              <a:rPr lang="en-US" dirty="0">
                <a:solidFill>
                  <a:schemeClr val="accent4"/>
                </a:solidFill>
              </a:rPr>
              <a:t>how</a:t>
            </a:r>
            <a:r>
              <a:rPr lang="en-US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B6B81E-FDF7-A0B8-0AFC-AB74298D0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Inductive theory building</a:t>
            </a:r>
          </a:p>
          <a:p>
            <a:r>
              <a:rPr lang="en-US" dirty="0"/>
              <a:t>Narrative analysis</a:t>
            </a:r>
          </a:p>
          <a:p>
            <a:r>
              <a:rPr lang="en-US" dirty="0"/>
              <a:t>Discourse analysis</a:t>
            </a:r>
          </a:p>
          <a:p>
            <a:r>
              <a:rPr lang="en-US" dirty="0"/>
              <a:t>Semantic analysis</a:t>
            </a:r>
          </a:p>
          <a:p>
            <a:r>
              <a:rPr lang="en-US" dirty="0"/>
              <a:t>Rhetorical analysis</a:t>
            </a:r>
          </a:p>
          <a:p>
            <a:r>
              <a:rPr lang="en-US" dirty="0"/>
              <a:t>Critical analysis</a:t>
            </a:r>
          </a:p>
          <a:p>
            <a:r>
              <a:rPr lang="en-US" dirty="0"/>
              <a:t>Quantitative content analysis</a:t>
            </a:r>
          </a:p>
          <a:p>
            <a:pPr marL="0" indent="0" algn="ctr">
              <a:buNone/>
            </a:pPr>
            <a:r>
              <a:rPr lang="en-US" i="1" dirty="0"/>
              <a:t>How do these differ? How are they similar?</a:t>
            </a:r>
          </a:p>
        </p:txBody>
      </p:sp>
    </p:spTree>
    <p:extLst>
      <p:ext uri="{BB962C8B-B14F-4D97-AF65-F5344CB8AC3E}">
        <p14:creationId xmlns:p14="http://schemas.microsoft.com/office/powerpoint/2010/main" val="164772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A5502-F8A0-33F3-5D4A-E778350E1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Assumption: Words have meaning…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1622E-9BC7-4B5A-AFE4-767F3759D8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“I love you”</a:t>
            </a:r>
          </a:p>
          <a:p>
            <a:endParaRPr lang="en-US" dirty="0"/>
          </a:p>
          <a:p>
            <a:r>
              <a:rPr lang="en-US" dirty="0"/>
              <a:t>“Dammit Janet”</a:t>
            </a:r>
          </a:p>
          <a:p>
            <a:endParaRPr lang="en-US" dirty="0"/>
          </a:p>
          <a:p>
            <a:r>
              <a:rPr lang="en-US" dirty="0"/>
              <a:t>“We are an innovative company”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1265EF-BAEC-7A6C-235B-81361CDE773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“I like you”</a:t>
            </a:r>
          </a:p>
          <a:p>
            <a:endParaRPr lang="en-US" dirty="0"/>
          </a:p>
          <a:p>
            <a:r>
              <a:rPr lang="en-US" dirty="0"/>
              <a:t>“Gosh Janet”</a:t>
            </a:r>
          </a:p>
          <a:p>
            <a:endParaRPr lang="en-US" dirty="0"/>
          </a:p>
          <a:p>
            <a:r>
              <a:rPr lang="en-US" dirty="0"/>
              <a:t>“We are a software company”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6834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B5176E0-020E-7EFD-5F75-28013BE11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Assumption: Words have meaning…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613F5A-F8D2-4208-0478-C9BD0CC5F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Language is important in…</a:t>
            </a:r>
          </a:p>
          <a:p>
            <a:pPr lvl="1"/>
            <a:r>
              <a:rPr lang="en-US" dirty="0"/>
              <a:t>Human psychology (Sapir, 1944; Whorf, 1956)</a:t>
            </a:r>
          </a:p>
          <a:p>
            <a:pPr lvl="1"/>
            <a:r>
              <a:rPr lang="en-US" dirty="0"/>
              <a:t>Sociological processes (Fishman, 1967)</a:t>
            </a:r>
          </a:p>
          <a:p>
            <a:pPr lvl="1"/>
            <a:r>
              <a:rPr lang="en-US" dirty="0"/>
              <a:t>Economic processes (Rubinstein, 2000)</a:t>
            </a:r>
          </a:p>
          <a:p>
            <a:endParaRPr lang="en-US" dirty="0"/>
          </a:p>
          <a:p>
            <a:r>
              <a:rPr lang="en-US" dirty="0"/>
              <a:t>They tell us something about reality</a:t>
            </a:r>
          </a:p>
          <a:p>
            <a:pPr lvl="1"/>
            <a:r>
              <a:rPr lang="en-US" dirty="0"/>
              <a:t>How we think</a:t>
            </a:r>
          </a:p>
          <a:p>
            <a:pPr lvl="1"/>
            <a:r>
              <a:rPr lang="en-US" dirty="0"/>
              <a:t>What we value</a:t>
            </a:r>
          </a:p>
          <a:p>
            <a:pPr lvl="1"/>
            <a:r>
              <a:rPr lang="en-US" dirty="0"/>
              <a:t>Where our attention 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1786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B0192-4A96-7B51-EBCD-11029504C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Integrative Process of Content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5265E-5D07-3B5A-58D7-CE04E2CA4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Process flowchart (Pages 40-41)</a:t>
            </a:r>
          </a:p>
          <a:p>
            <a:pPr lvl="1"/>
            <a:r>
              <a:rPr lang="en-US" dirty="0"/>
              <a:t>How is this similar to other deductive research processes?</a:t>
            </a:r>
          </a:p>
          <a:p>
            <a:pPr lvl="2"/>
            <a:r>
              <a:rPr lang="en-US" dirty="0"/>
              <a:t>Survey</a:t>
            </a:r>
          </a:p>
          <a:p>
            <a:pPr lvl="2"/>
            <a:r>
              <a:rPr lang="en-US" dirty="0"/>
              <a:t>Database</a:t>
            </a:r>
          </a:p>
          <a:p>
            <a:pPr lvl="2"/>
            <a:r>
              <a:rPr lang="en-US" dirty="0"/>
              <a:t>Etc.</a:t>
            </a:r>
          </a:p>
          <a:p>
            <a:pPr lvl="1"/>
            <a:r>
              <a:rPr lang="en-US" dirty="0"/>
              <a:t>How is it different?</a:t>
            </a:r>
          </a:p>
          <a:p>
            <a:pPr lvl="1"/>
            <a:endParaRPr lang="en-US" dirty="0"/>
          </a:p>
          <a:p>
            <a:r>
              <a:rPr lang="en-US" dirty="0"/>
              <a:t>What are some research ideas using these links in your area?</a:t>
            </a:r>
          </a:p>
          <a:p>
            <a:pPr lvl="1"/>
            <a:r>
              <a:rPr lang="en-US" dirty="0"/>
              <a:t>S</a:t>
            </a:r>
            <a:r>
              <a:rPr lang="en-US" dirty="0">
                <a:sym typeface="Wingdings" panose="05000000000000000000" pitchFamily="2" charset="2"/>
              </a:rPr>
              <a:t>M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MR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615A0-82DB-EAC4-D1D7-FB845F966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512" y="5040512"/>
            <a:ext cx="3642975" cy="17262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71DACB-5940-F366-61E5-A31CCEE99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343" y="5096416"/>
            <a:ext cx="4473312" cy="167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10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0319F-FFD5-E0E2-ECAD-6C627DBFF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Psychological aspects of natural language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D91A4-C4B5-9045-E3A3-0DDE77E82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our words tell us about ourselves?</a:t>
            </a:r>
          </a:p>
          <a:p>
            <a:endParaRPr lang="en-US" dirty="0"/>
          </a:p>
          <a:p>
            <a:r>
              <a:rPr lang="en-US" dirty="0"/>
              <a:t>How are our ‘selves’ reflected in the words we use?</a:t>
            </a:r>
          </a:p>
          <a:p>
            <a:endParaRPr lang="en-US" dirty="0"/>
          </a:p>
          <a:p>
            <a:r>
              <a:rPr lang="en-US" dirty="0"/>
              <a:t>What can we glean from the analysis of words?</a:t>
            </a:r>
          </a:p>
          <a:p>
            <a:pPr lvl="1"/>
            <a:r>
              <a:rPr lang="en-US" dirty="0"/>
              <a:t>Manifest content?</a:t>
            </a:r>
          </a:p>
          <a:p>
            <a:pPr lvl="1"/>
            <a:r>
              <a:rPr lang="en-US" dirty="0"/>
              <a:t>Latent content?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699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D7159-E148-E1F6-AED1-2131529FC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content analysis of the content analysis 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A4E38-0301-8042-336F-AB22A9466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is content analysis being applied to organizational research?</a:t>
            </a:r>
          </a:p>
          <a:p>
            <a:endParaRPr lang="en-US" dirty="0"/>
          </a:p>
          <a:p>
            <a:r>
              <a:rPr lang="en-US" dirty="0"/>
              <a:t>What kinds of research questions are being answered?</a:t>
            </a:r>
          </a:p>
          <a:p>
            <a:endParaRPr lang="en-US" dirty="0"/>
          </a:p>
          <a:p>
            <a:r>
              <a:rPr lang="en-US" dirty="0"/>
              <a:t>What are some of the:</a:t>
            </a:r>
          </a:p>
          <a:p>
            <a:pPr lvl="1"/>
            <a:r>
              <a:rPr lang="en-US" dirty="0"/>
              <a:t>Advantages?</a:t>
            </a:r>
          </a:p>
          <a:p>
            <a:pPr lvl="1"/>
            <a:r>
              <a:rPr lang="en-US" dirty="0"/>
              <a:t>Disadvantages?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3685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5A3B8-3A02-FE00-8CE1-72F4169B9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Curating Research Assets: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76C8B-F617-110D-DECE-4553090A4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Why should we care about version control?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Is it just for our own sanity/organization?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How might this help with collaboration with coauthors?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sz="20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How does this fit with: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The open science movement?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The replication crisis?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sz="20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000" dirty="0"/>
              <a:t>What are some strengths limitations of Git/version control tools?</a:t>
            </a:r>
          </a:p>
        </p:txBody>
      </p:sp>
    </p:spTree>
    <p:extLst>
      <p:ext uri="{BB962C8B-B14F-4D97-AF65-F5344CB8AC3E}">
        <p14:creationId xmlns:p14="http://schemas.microsoft.com/office/powerpoint/2010/main" val="3608498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526722-7864-169A-6D62-583DF7096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explore Git/GitHub!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B5D48-ED2C-F4FC-90EF-0E9121602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https://www.github.com/amckenny</a:t>
            </a:r>
            <a:endParaRPr lang="en-US" dirty="0"/>
          </a:p>
          <a:p>
            <a:r>
              <a:rPr lang="en-US" dirty="0">
                <a:hlinkClick r:id="rId3"/>
              </a:rPr>
              <a:t>https://github.com/stanfordnlp/stanza</a:t>
            </a:r>
            <a:endParaRPr lang="en-US" dirty="0"/>
          </a:p>
          <a:p>
            <a:r>
              <a:rPr lang="en-US" dirty="0">
                <a:hlinkClick r:id="rId4"/>
              </a:rPr>
              <a:t>https://github.com/arsena-k/Word2Vec-bias-extraction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418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806DC-4E89-732B-D788-A270D814E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A5666-2DBB-8271-2F47-1E8BBCBB3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DD99E-754A-6EDB-5AE1-A61F68C7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About this course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This week’s readings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Resources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Homework discussion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job application process</a:t>
            </a:r>
          </a:p>
        </p:txBody>
      </p:sp>
    </p:spTree>
    <p:extLst>
      <p:ext uri="{BB962C8B-B14F-4D97-AF65-F5344CB8AC3E}">
        <p14:creationId xmlns:p14="http://schemas.microsoft.com/office/powerpoint/2010/main" val="1215351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5CF09-86D3-021D-3BEC-CD31ACDE8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Keeping your repository up-to-date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A7403-666E-86CA-26DA-4044CAD6E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Commit and sync your local work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Open your fork on GitHub</a:t>
            </a:r>
            <a:br>
              <a:rPr lang="en-US" dirty="0"/>
            </a:br>
            <a:r>
              <a:rPr lang="en-US" i="1" dirty="0"/>
              <a:t>Your username should appear in the repository URL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 the ‘main’ branch and click “Sync Fork”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Review the incoming updates</a:t>
            </a:r>
            <a:br>
              <a:rPr lang="en-US" dirty="0"/>
            </a:br>
            <a:r>
              <a:rPr lang="en-US" dirty="0"/>
              <a:t>Click “Update branch” to add my changes to your fork.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Fetch/pull your fork to your local machine</a:t>
            </a:r>
          </a:p>
        </p:txBody>
      </p:sp>
    </p:spTree>
    <p:extLst>
      <p:ext uri="{BB962C8B-B14F-4D97-AF65-F5344CB8AC3E}">
        <p14:creationId xmlns:p14="http://schemas.microsoft.com/office/powerpoint/2010/main" val="19662386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F406-D928-C078-51D1-ACCB0B917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86E3D-D1BB-7527-D6B1-CFE7E6410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ARCC – https://arcc.ist.ucf.edu/</a:t>
            </a:r>
          </a:p>
          <a:p>
            <a:r>
              <a:rPr lang="en-US" dirty="0"/>
              <a:t>Google </a:t>
            </a:r>
            <a:r>
              <a:rPr lang="en-US" dirty="0" err="1"/>
              <a:t>Colaboratory</a:t>
            </a:r>
            <a:r>
              <a:rPr lang="en-US" dirty="0"/>
              <a:t> – </a:t>
            </a:r>
            <a:r>
              <a:rPr lang="en-US" dirty="0">
                <a:hlinkClick r:id="rId2"/>
              </a:rPr>
              <a:t>https://colab.research.google.com/</a:t>
            </a:r>
            <a:endParaRPr lang="en-US" dirty="0"/>
          </a:p>
          <a:p>
            <a:r>
              <a:rPr lang="en-US" dirty="0">
                <a:hlinkClick r:id="rId3"/>
              </a:rPr>
              <a:t>https://www.terry.uga.edu/contentanalysis/</a:t>
            </a:r>
            <a:endParaRPr lang="en-US" dirty="0"/>
          </a:p>
          <a:p>
            <a:endParaRPr lang="en-US" dirty="0"/>
          </a:p>
          <a:p>
            <a:r>
              <a:rPr lang="en-US" dirty="0"/>
              <a:t>Textbook</a:t>
            </a:r>
          </a:p>
          <a:p>
            <a:pPr lvl="1"/>
            <a:r>
              <a:rPr lang="en-US" dirty="0"/>
              <a:t>https://ucf-flvc.primo.exlibrisgroup.com/permalink/01FALSC_UCF/1r87uf/alma99384180312506596</a:t>
            </a:r>
          </a:p>
        </p:txBody>
      </p:sp>
    </p:spTree>
    <p:extLst>
      <p:ext uri="{BB962C8B-B14F-4D97-AF65-F5344CB8AC3E}">
        <p14:creationId xmlns:p14="http://schemas.microsoft.com/office/powerpoint/2010/main" val="15906813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621ED-AD01-4E3C-81BC-498E7E09B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201C5-FECB-F7D1-C7DA-F275FE624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FE253-5AEC-143E-A1ED-EBAEF45F1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About this course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This week’s readings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Resources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Homework discussion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job application process</a:t>
            </a:r>
          </a:p>
        </p:txBody>
      </p:sp>
    </p:spTree>
    <p:extLst>
      <p:ext uri="{BB962C8B-B14F-4D97-AF65-F5344CB8AC3E}">
        <p14:creationId xmlns:p14="http://schemas.microsoft.com/office/powerpoint/2010/main" val="9246932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85522-9FCA-2776-97DB-C2AFF7E86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EF9D-DCE0-AE22-252B-282CEB555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88611-1020-028E-4ED7-B176FA2CB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About this course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This week’s readings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Resources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Homework discussion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The job application process</a:t>
            </a:r>
          </a:p>
        </p:txBody>
      </p:sp>
    </p:spTree>
    <p:extLst>
      <p:ext uri="{BB962C8B-B14F-4D97-AF65-F5344CB8AC3E}">
        <p14:creationId xmlns:p14="http://schemas.microsoft.com/office/powerpoint/2010/main" val="23833858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1B040-5F5E-8907-62DA-85F5E7DA0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first job market: Application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814A9-F137-1C26-52A8-5B9F024F2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 this out of the way: Research Schools</a:t>
            </a:r>
          </a:p>
          <a:p>
            <a:pPr lvl="1"/>
            <a:r>
              <a:rPr lang="en-US" dirty="0"/>
              <a:t>Priorities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Publications and conditional acceptances at top-tier outlets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R&amp;Rs at top tier outlets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Publications, conditional acceptances, R&amp;Rs at other good outlets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Dissertation and research pipeline with solid co-authors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Application materials</a:t>
            </a:r>
          </a:p>
          <a:p>
            <a:pPr lvl="1"/>
            <a:r>
              <a:rPr lang="en-US" dirty="0"/>
              <a:t>Application materials</a:t>
            </a:r>
          </a:p>
          <a:p>
            <a:pPr lvl="2"/>
            <a:r>
              <a:rPr lang="en-US" dirty="0"/>
              <a:t>Tie-breaker</a:t>
            </a:r>
          </a:p>
          <a:p>
            <a:pPr lvl="2"/>
            <a:r>
              <a:rPr lang="en-US" dirty="0"/>
              <a:t>Deal-breaker</a:t>
            </a:r>
          </a:p>
          <a:p>
            <a:pPr lvl="2"/>
            <a:r>
              <a:rPr lang="en-US" dirty="0"/>
              <a:t>Get to know you more holistically</a:t>
            </a:r>
          </a:p>
        </p:txBody>
      </p:sp>
    </p:spTree>
    <p:extLst>
      <p:ext uri="{BB962C8B-B14F-4D97-AF65-F5344CB8AC3E}">
        <p14:creationId xmlns:p14="http://schemas.microsoft.com/office/powerpoint/2010/main" val="6653640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040E6-EBCE-2E21-CFE5-F303ED984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materials: Research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19794-875A-E431-51FC-07C77B04E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I care about and why?</a:t>
            </a:r>
          </a:p>
          <a:p>
            <a:r>
              <a:rPr lang="en-US" dirty="0"/>
              <a:t>Where have I been and where do I envision myself going?</a:t>
            </a:r>
          </a:p>
          <a:p>
            <a:r>
              <a:rPr lang="en-US" dirty="0"/>
              <a:t>Goals: Help them envision…</a:t>
            </a:r>
          </a:p>
          <a:p>
            <a:pPr lvl="1"/>
            <a:r>
              <a:rPr lang="en-US" dirty="0"/>
              <a:t>your publication record 6 years from now</a:t>
            </a:r>
          </a:p>
          <a:p>
            <a:pPr lvl="1"/>
            <a:r>
              <a:rPr lang="en-US" dirty="0"/>
              <a:t>fit with their current faculty/needs</a:t>
            </a:r>
          </a:p>
          <a:p>
            <a:pPr lvl="1"/>
            <a:r>
              <a:rPr lang="en-US" dirty="0"/>
              <a:t>your </a:t>
            </a:r>
            <a:r>
              <a:rPr lang="en-US" i="1" dirty="0"/>
              <a:t>initial thinking </a:t>
            </a:r>
            <a:r>
              <a:rPr lang="en-US" dirty="0"/>
              <a:t>on a “systematic program of research”</a:t>
            </a:r>
          </a:p>
          <a:p>
            <a:r>
              <a:rPr lang="en-US" dirty="0"/>
              <a:t>Suggestions:</a:t>
            </a:r>
          </a:p>
          <a:p>
            <a:pPr lvl="1"/>
            <a:r>
              <a:rPr lang="en-US" dirty="0"/>
              <a:t>1… maybe 2 pages </a:t>
            </a:r>
            <a:r>
              <a:rPr lang="en-US" i="1" dirty="0"/>
              <a:t>maximum</a:t>
            </a:r>
          </a:p>
          <a:p>
            <a:pPr lvl="1"/>
            <a:r>
              <a:rPr lang="en-US" dirty="0"/>
              <a:t>Get examples from scholars in your area</a:t>
            </a:r>
          </a:p>
        </p:txBody>
      </p:sp>
    </p:spTree>
    <p:extLst>
      <p:ext uri="{BB962C8B-B14F-4D97-AF65-F5344CB8AC3E}">
        <p14:creationId xmlns:p14="http://schemas.microsoft.com/office/powerpoint/2010/main" val="9014970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60912-0CFF-771C-7CFA-BD64F9513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7C38E-8C76-E74D-210C-5931F885C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materials: Teaching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CF9AF-2540-5DA8-6FCC-C7C84E7B6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do I care about and why?</a:t>
            </a:r>
          </a:p>
          <a:p>
            <a:r>
              <a:rPr lang="en-US" dirty="0"/>
              <a:t>Where have I been and where do I envision myself going?</a:t>
            </a:r>
          </a:p>
          <a:p>
            <a:r>
              <a:rPr lang="en-US" dirty="0"/>
              <a:t>Goals: Help them envision…</a:t>
            </a:r>
          </a:p>
          <a:p>
            <a:pPr lvl="1"/>
            <a:r>
              <a:rPr lang="en-US" dirty="0"/>
              <a:t>what you’re like in the classroom</a:t>
            </a:r>
          </a:p>
          <a:p>
            <a:pPr lvl="1"/>
            <a:r>
              <a:rPr lang="en-US" dirty="0"/>
              <a:t>fit with their current teaching needs</a:t>
            </a:r>
          </a:p>
          <a:p>
            <a:pPr lvl="1"/>
            <a:r>
              <a:rPr lang="en-US" dirty="0"/>
              <a:t>whether they can put you in front of MBA students</a:t>
            </a:r>
          </a:p>
          <a:p>
            <a:r>
              <a:rPr lang="en-US" dirty="0"/>
              <a:t>Suggestions… again:</a:t>
            </a:r>
          </a:p>
          <a:p>
            <a:pPr lvl="1"/>
            <a:r>
              <a:rPr lang="en-US" dirty="0"/>
              <a:t>1… maybe 2 pages </a:t>
            </a:r>
            <a:r>
              <a:rPr lang="en-US" i="1" dirty="0"/>
              <a:t>maximum</a:t>
            </a:r>
          </a:p>
          <a:p>
            <a:pPr lvl="1"/>
            <a:r>
              <a:rPr lang="en-US" dirty="0">
                <a:hlinkClick r:id="rId2"/>
              </a:rPr>
              <a:t>https://citl.indiana.edu/teaching-resources/documenting-teaching/teaching-statements-philosophies/index.html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Get examples from scholars in your area</a:t>
            </a:r>
          </a:p>
        </p:txBody>
      </p:sp>
    </p:spTree>
    <p:extLst>
      <p:ext uri="{BB962C8B-B14F-4D97-AF65-F5344CB8AC3E}">
        <p14:creationId xmlns:p14="http://schemas.microsoft.com/office/powerpoint/2010/main" val="31722312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9FD99-C7DD-8BCD-0DBF-9A6E2068B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materials: Letters of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80A5E-70DC-5FE9-B4B8-02999195A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3-4 per school</a:t>
            </a:r>
          </a:p>
          <a:p>
            <a:r>
              <a:rPr lang="en-US" dirty="0"/>
              <a:t>Who writes them matters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Who knows you best </a:t>
            </a:r>
            <a:r>
              <a:rPr lang="en-US" i="1" dirty="0"/>
              <a:t>as a scholar?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Who can speak best to your promise?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Who does the selection committee trust?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Famous scholars</a:t>
            </a:r>
          </a:p>
          <a:p>
            <a:pPr lvl="2"/>
            <a:r>
              <a:rPr lang="en-US" dirty="0"/>
              <a:t>Only to the extent they meet points 1-3</a:t>
            </a:r>
          </a:p>
          <a:p>
            <a:r>
              <a:rPr lang="en-US" dirty="0"/>
              <a:t>Who doesn’t write them can matter</a:t>
            </a:r>
          </a:p>
          <a:p>
            <a:pPr lvl="1"/>
            <a:r>
              <a:rPr lang="en-US" dirty="0"/>
              <a:t>Dissertation chair not writing one? (first job market)</a:t>
            </a:r>
          </a:p>
          <a:p>
            <a:pPr lvl="2"/>
            <a:r>
              <a:rPr lang="en-US" dirty="0"/>
              <a:t>Better be a good reason that is evident to the selection committee</a:t>
            </a:r>
          </a:p>
        </p:txBody>
      </p:sp>
    </p:spTree>
    <p:extLst>
      <p:ext uri="{BB962C8B-B14F-4D97-AF65-F5344CB8AC3E}">
        <p14:creationId xmlns:p14="http://schemas.microsoft.com/office/powerpoint/2010/main" val="11788870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A4960-18C8-9952-38CD-27449B1C1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materials: Letters of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06288-2526-C008-6697-6B2AF939C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don’t have to use the same recommenders for all applications</a:t>
            </a:r>
          </a:p>
          <a:p>
            <a:pPr lvl="1"/>
            <a:r>
              <a:rPr lang="en-US" dirty="0"/>
              <a:t>Social networks</a:t>
            </a:r>
          </a:p>
          <a:p>
            <a:pPr lvl="1"/>
            <a:r>
              <a:rPr lang="en-US" dirty="0"/>
              <a:t>Research themes</a:t>
            </a:r>
          </a:p>
          <a:p>
            <a:r>
              <a:rPr lang="en-US" dirty="0"/>
              <a:t>Give your recommenders</a:t>
            </a:r>
          </a:p>
          <a:p>
            <a:pPr lvl="1"/>
            <a:r>
              <a:rPr lang="en-US" dirty="0"/>
              <a:t>Lots of time (at least a month before first letter is needed)</a:t>
            </a:r>
          </a:p>
          <a:p>
            <a:pPr lvl="1"/>
            <a:r>
              <a:rPr lang="en-US" dirty="0"/>
              <a:t>The list of schools and your initial thoughts on each</a:t>
            </a:r>
          </a:p>
          <a:p>
            <a:pPr lvl="2"/>
            <a:r>
              <a:rPr lang="en-US" dirty="0"/>
              <a:t>Why that school</a:t>
            </a:r>
          </a:p>
          <a:p>
            <a:pPr lvl="2"/>
            <a:r>
              <a:rPr lang="en-US" dirty="0"/>
              <a:t>Where it sits in your “wish list”</a:t>
            </a:r>
          </a:p>
          <a:p>
            <a:pPr lvl="1"/>
            <a:r>
              <a:rPr lang="en-US" dirty="0"/>
              <a:t>Your up-to-date CV and research status</a:t>
            </a:r>
          </a:p>
          <a:p>
            <a:pPr lvl="1"/>
            <a:r>
              <a:rPr lang="en-US" dirty="0"/>
              <a:t>Additional points you think may be relevant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9184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6B0F3-61D1-2C47-6538-111E0783F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materials: Cover letter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36CFE-C9CC-95D2-FD34-7B5B5A150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roughly this order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What position you are applying to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Why you are applying to that position and why you are a good fit</a:t>
            </a:r>
          </a:p>
          <a:p>
            <a:pPr lvl="2"/>
            <a:r>
              <a:rPr lang="en-US" dirty="0"/>
              <a:t>Why this school (ties to the area, research complementarities,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How your research (and teaching for teaching schools) complements what is being done at that school, if possible</a:t>
            </a:r>
          </a:p>
          <a:p>
            <a:pPr lvl="2"/>
            <a:r>
              <a:rPr lang="en-US" dirty="0"/>
              <a:t>Who you could envision working with on research, not just famous scholars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Call to action</a:t>
            </a:r>
          </a:p>
          <a:p>
            <a:r>
              <a:rPr lang="en-US" dirty="0"/>
              <a:t>Highlight but don’t regurgitate points from other materials</a:t>
            </a:r>
          </a:p>
          <a:p>
            <a:r>
              <a:rPr lang="en-US" b="1" dirty="0"/>
              <a:t>You should cater this document to each position you apply to</a:t>
            </a:r>
          </a:p>
          <a:p>
            <a:r>
              <a:rPr lang="en-US" dirty="0"/>
              <a:t>1 page maximum </a:t>
            </a:r>
          </a:p>
          <a:p>
            <a:r>
              <a:rPr lang="en-US" dirty="0"/>
              <a:t>Get examples from scholars in your area</a:t>
            </a:r>
          </a:p>
        </p:txBody>
      </p:sp>
    </p:spTree>
    <p:extLst>
      <p:ext uri="{BB962C8B-B14F-4D97-AF65-F5344CB8AC3E}">
        <p14:creationId xmlns:p14="http://schemas.microsoft.com/office/powerpoint/2010/main" val="3704954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1600</Words>
  <Application>Microsoft Office PowerPoint</Application>
  <PresentationFormat>Widescreen</PresentationFormat>
  <Paragraphs>301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Wingdings</vt:lpstr>
      <vt:lpstr>Office Theme</vt:lpstr>
      <vt:lpstr>MAN 7916 Session 1: Introduction to Content Analysis and Tools</vt:lpstr>
      <vt:lpstr>Agenda</vt:lpstr>
      <vt:lpstr>About this course</vt:lpstr>
      <vt:lpstr>Course grading</vt:lpstr>
      <vt:lpstr>Components: Weekly assignments</vt:lpstr>
      <vt:lpstr>Components: Participation and discussion leadership</vt:lpstr>
      <vt:lpstr>Components: Participation and discussion leadership</vt:lpstr>
      <vt:lpstr>Week selection</vt:lpstr>
      <vt:lpstr>Components: Research paper</vt:lpstr>
      <vt:lpstr>Preparing for class</vt:lpstr>
      <vt:lpstr>Technology</vt:lpstr>
      <vt:lpstr>Generative AI (e.g., Claude, GPT, Gemini)</vt:lpstr>
      <vt:lpstr>Agenda</vt:lpstr>
      <vt:lpstr>Neuendorf Chapters 1 &amp; 2</vt:lpstr>
      <vt:lpstr>What is content analysis?</vt:lpstr>
      <vt:lpstr>Common threads?</vt:lpstr>
      <vt:lpstr>Not everyone agrees</vt:lpstr>
      <vt:lpstr>What content is being analyzed and how?</vt:lpstr>
      <vt:lpstr>Assumption: Words have meaning…</vt:lpstr>
      <vt:lpstr>Assumption: Words have meaning…</vt:lpstr>
      <vt:lpstr>Integrative Process of Content Analysis</vt:lpstr>
      <vt:lpstr>Psychological aspects of natural language use</vt:lpstr>
      <vt:lpstr>A content analysis of the content analysis literature</vt:lpstr>
      <vt:lpstr>Curating Research Assets: Git</vt:lpstr>
      <vt:lpstr>Let’s explore Git/GitHub!</vt:lpstr>
      <vt:lpstr>Agenda</vt:lpstr>
      <vt:lpstr>Keeping your repository up-to-date</vt:lpstr>
      <vt:lpstr>Other Resources</vt:lpstr>
      <vt:lpstr>Agenda</vt:lpstr>
      <vt:lpstr>Agenda</vt:lpstr>
      <vt:lpstr>Your first job market: Application materials</vt:lpstr>
      <vt:lpstr>Application materials: Research statement</vt:lpstr>
      <vt:lpstr>Application materials: Teaching statement</vt:lpstr>
      <vt:lpstr>Application materials: Letters of recommendation</vt:lpstr>
      <vt:lpstr>Application materials: Letters of recommendation</vt:lpstr>
      <vt:lpstr>Application materials: Cover letter</vt:lpstr>
    </vt:vector>
  </TitlesOfParts>
  <Company>University of Central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McKenny</dc:creator>
  <cp:lastModifiedBy>Aaron McKenny</cp:lastModifiedBy>
  <cp:revision>1</cp:revision>
  <dcterms:created xsi:type="dcterms:W3CDTF">2026-10-13T12:43:11Z</dcterms:created>
  <dcterms:modified xsi:type="dcterms:W3CDTF">2026-10-13T14:26:55Z</dcterms:modified>
</cp:coreProperties>
</file>